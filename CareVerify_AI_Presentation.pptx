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BD5B22E-A7D2-4EF6-BE32-07DA07221662}">
  <a:tblStyle styleId="{EBD5B22E-A7D2-4EF6-BE32-07DA072216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Introduce yourself and the assessment topic. Briefly mention CareVerify AI as the POC built to demonstrate the concepts.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Walk through the agenda briefly — five topic areas, ~2 min each.</a:t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Explain that Cotiviti sits at the intersection of all three — payer analytics, payment integrity, and operational efficiency.</a:t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the three macro-trends the CareVerify AI POC directly demonstrates.</a:t>
            </a:r>
            <a:endParaRPr/>
          </a:p>
        </p:txBody>
      </p:sp>
      <p:sp>
        <p:nvSpPr>
          <p:cNvPr id="82" name="Google Shape;8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Walk through the pipeline: patient vitals come in → anomaly engine fires rule-based + statistical checks → Extractor agent structures the findings → Reasoner agent applies Chain-of-Thought and issues one of three verdicts.</a:t>
            </a:r>
            <a:endParaRPr/>
          </a:p>
        </p:txBody>
      </p:sp>
      <p:sp>
        <p:nvSpPr>
          <p:cNvPr id="103" name="Google Shape;10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the hybrid approach catches both known clinical violations AND statistically unusual deviations from a patient's own baseline.</a:t>
            </a:r>
            <a:endParaRPr/>
          </a:p>
        </p:txBody>
      </p:sp>
      <p:sp>
        <p:nvSpPr>
          <p:cNvPr id="134" name="Google Shape;13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two-agent design mirrors a real clinical audit workflow: one specialist extracts structured facts, another reasons over them. The CoT trace is fully visible, making each denial or approval defensible.</a:t>
            </a:r>
            <a:endParaRPr/>
          </a:p>
        </p:txBody>
      </p:sp>
      <p:sp>
        <p:nvSpPr>
          <p:cNvPr id="148" name="Google Shape;14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Balanced view. Stress that HITL design in CareVerify AI directly addresses the hallucination and bias threats.</a:t>
            </a:r>
            <a:endParaRPr/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Recommendation 01 directly mirrors what CareVerify AI already demonstrates — it's not hypothetical, it's proven by the POC.</a:t>
            </a:r>
            <a:endParaRPr/>
          </a:p>
        </p:txBody>
      </p:sp>
      <p:sp>
        <p:nvSpPr>
          <p:cNvPr id="190" name="Google Shape;19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with confidence. Reiterate that you didn't just write about this — you built it. Offer to walk through a live demo.</a:t>
            </a:r>
            <a:endParaRPr/>
          </a:p>
        </p:txBody>
      </p:sp>
      <p:sp>
        <p:nvSpPr>
          <p:cNvPr id="214" name="Google Shape;21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3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7132320" y="-1097280"/>
            <a:ext cx="4114800" cy="4114800"/>
          </a:xfrm>
          <a:prstGeom prst="ellipse">
            <a:avLst/>
          </a:prstGeom>
          <a:solidFill>
            <a:srgbClr val="005F73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7680960" y="-457200"/>
            <a:ext cx="2743200" cy="2743200"/>
          </a:xfrm>
          <a:prstGeom prst="ellipse">
            <a:avLst/>
          </a:prstGeom>
          <a:solidFill>
            <a:srgbClr val="0A9396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548640"/>
            <a:ext cx="822960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1463040" y="457200"/>
            <a:ext cx="6858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CareVerify AI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1463040" y="1325880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D2BD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D2BD"/>
                </a:solidFill>
                <a:latin typeface="Calibri"/>
                <a:ea typeface="Calibri"/>
                <a:cs typeface="Calibri"/>
                <a:sym typeface="Calibri"/>
              </a:rPr>
              <a:t>Clinical Decision Making &amp; Pattern Recognition in Health Care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2103120"/>
            <a:ext cx="8229600" cy="27432"/>
          </a:xfrm>
          <a:prstGeom prst="rect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457200" y="224028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D2BD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94D2BD"/>
                </a:solidFill>
                <a:latin typeface="Calibri"/>
                <a:ea typeface="Calibri"/>
                <a:cs typeface="Calibri"/>
                <a:sym typeface="Calibri"/>
              </a:rPr>
              <a:t>Strategic Opportunities for Cotiviti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57200" y="283464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Abhishek Darji  ·  San Jose State University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Intern Assessment  ·  June 25, 2026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457200" y="3931920"/>
            <a:ext cx="2560320" cy="502920"/>
          </a:xfrm>
          <a:prstGeom prst="roundRect">
            <a:avLst>
              <a:gd fmla="val 21818" name="adj"/>
            </a:avLst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457200" y="3931920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AI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3291840" y="3931920"/>
            <a:ext cx="2560320" cy="502920"/>
          </a:xfrm>
          <a:prstGeom prst="roundRect">
            <a:avLst>
              <a:gd fmla="val 21818" name="adj"/>
            </a:avLst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3291840" y="3931920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Anomaly Detection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6126480" y="3931920"/>
            <a:ext cx="2560320" cy="502920"/>
          </a:xfrm>
          <a:prstGeom prst="roundRect">
            <a:avLst>
              <a:gd fmla="val 21818" name="adj"/>
            </a:avLst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6126480" y="3931920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TPO Recommendations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F2F7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57200" y="1051560"/>
            <a:ext cx="548640" cy="54864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57200" y="10515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188720" y="100584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Topic Overview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188720" y="130759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What is Clinical Decision Making &amp; Pattern Recognition?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57200" y="1819656"/>
            <a:ext cx="548640" cy="54864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457200" y="1819656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188720" y="1773936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Industry Trends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1188720" y="207568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Agentic AI · Anomaly Detection · Multimodal Recognition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457200" y="2587752"/>
            <a:ext cx="548640" cy="54864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457200" y="258775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188720" y="254203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POC: CareVerify AI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188720" y="284378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Architecture, agents, and live demo walkthrough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57200" y="3355848"/>
            <a:ext cx="548640" cy="54864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57200" y="335584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188720" y="3310128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Opportunities &amp; Threats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18872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Strategic landscape for payers like Cotiviti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57200" y="4123944"/>
            <a:ext cx="548640" cy="54864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457200" y="4123944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1188720" y="4078224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1188720" y="4379976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Three strategic options for Cotiviti to invest 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What is Clinical Decision Making &amp; Pattern Recognition?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365760" y="1005840"/>
            <a:ext cx="4023360" cy="35661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548640" y="11430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The Problem Space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548640" y="1600200"/>
            <a:ext cx="3657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Healthcare generates massive, heterogeneous data — billing codes, EHR notes, lab results, imaging — that no single human can fully synthesize in real time.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Clinical Decision Support Systems (CDSS) use AI to analyze this data and surface actionable guidance for: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Treatment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Payment integrity &amp; claims review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Operations and resource planning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4663440" y="1005840"/>
            <a:ext cx="4023360" cy="3566160"/>
          </a:xfrm>
          <a:prstGeom prst="rect">
            <a:avLst/>
          </a:prstGeom>
          <a:solidFill>
            <a:srgbClr val="EEF2F7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4846320" y="11430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The TPO Framework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846320" y="1691640"/>
            <a:ext cx="502920" cy="50292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4846320" y="16916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486400" y="169164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Treatment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5486400" y="193852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Clinical necessity, care guidelines, prior auth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846320" y="2651760"/>
            <a:ext cx="502920" cy="502920"/>
          </a:xfrm>
          <a:prstGeom prst="ellipse">
            <a:avLst/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4846320" y="2651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Payment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5486400" y="289864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Fraud, waste &amp; abuse detection, claims auditing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94D2B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6400" y="361188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Operations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5486400" y="385876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Resource forecasting, workflow automation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F2F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Three Defining Industry Trends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365760" y="960120"/>
            <a:ext cx="2697480" cy="37490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1435608" y="1078992"/>
            <a:ext cx="548640" cy="54864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7" name="Google Shape;8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9616" y="1143000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6"/>
          <p:cNvSpPr/>
          <p:nvPr/>
        </p:nvSpPr>
        <p:spPr>
          <a:xfrm>
            <a:off x="457200" y="1719072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Agentic AI &amp; Chain of Reasoning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475488" y="2331720"/>
            <a:ext cx="2487168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LLMs now act as autonomous agents that decompose clinical questions into sequential reasoning steps — querying EHRs, validating against CMS guidelines, and producing defensible audit trails.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3291840" y="960120"/>
            <a:ext cx="2697480" cy="37490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361688" y="1078992"/>
            <a:ext cx="548640" cy="548640"/>
          </a:xfrm>
          <a:prstGeom prst="ellipse">
            <a:avLst/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2" name="Google Shape;9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25696" y="1143000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6"/>
          <p:cNvSpPr/>
          <p:nvPr/>
        </p:nvSpPr>
        <p:spPr>
          <a:xfrm>
            <a:off x="3383280" y="1719072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Real-Time Anomaly Detection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3401568" y="2331720"/>
            <a:ext cx="2487168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Payers are moving from retrospective auditing to stream-based, pre-payment monitoring. ML flags unbundled codes, upcoded E&amp;M levels, and duplicate claims instantly.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6217920" y="960120"/>
            <a:ext cx="2697480" cy="37490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7287768" y="1078992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" name="Google Shape;97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1776" y="1143000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6"/>
          <p:cNvSpPr/>
          <p:nvPr/>
        </p:nvSpPr>
        <p:spPr>
          <a:xfrm>
            <a:off x="6309360" y="1719072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Multimodal Pattern Recognition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6327648" y="2331720"/>
            <a:ext cx="2487168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Large Multimodal Models (LMMs) unify ICD-10/CPT codes, physician narratives, and imaging into one pipeline — enabling cross-modal consistency checks between billed and documented care.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3E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POC: CareVerify AI — System Architecture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274320" y="960120"/>
            <a:ext cx="2011680" cy="1417320"/>
          </a:xfrm>
          <a:prstGeom prst="roundRect">
            <a:avLst>
              <a:gd fmla="val 7742" name="adj"/>
            </a:avLst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274320" y="1005840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Patient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Telemetry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274320" y="1664208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HR · SpO₂ · SBP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RR · Temperature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2423160" y="960120"/>
            <a:ext cx="2011680" cy="1417320"/>
          </a:xfrm>
          <a:prstGeom prst="roundRect">
            <a:avLst>
              <a:gd fmla="val 7742" name="adj"/>
            </a:avLst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/>
          <p:nvPr/>
        </p:nvSpPr>
        <p:spPr>
          <a:xfrm>
            <a:off x="2423160" y="1005840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Hybrid Anomaly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Engine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2423160" y="1664208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Rules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Z-Score Stats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572000" y="960120"/>
            <a:ext cx="2011680" cy="1417320"/>
          </a:xfrm>
          <a:prstGeom prst="roundRect">
            <a:avLst>
              <a:gd fmla="val 7742" name="adj"/>
            </a:avLst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4572000" y="1005840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Extractor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4572000" y="1664208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Raw vitals 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ClinicalSummary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6720840" y="960120"/>
            <a:ext cx="2011680" cy="1417320"/>
          </a:xfrm>
          <a:prstGeom prst="roundRect">
            <a:avLst>
              <a:gd fmla="val 7742" name="adj"/>
            </a:avLst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6720840" y="1005840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720840" y="1664208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CoT Audit 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TPO Verdict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2286000" y="1581912"/>
            <a:ext cx="137160" cy="54864"/>
          </a:xfrm>
          <a:prstGeom prst="rect">
            <a:avLst/>
          </a:prstGeom>
          <a:solidFill>
            <a:srgbClr val="94D2B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4434840" y="1581912"/>
            <a:ext cx="137160" cy="54864"/>
          </a:xfrm>
          <a:prstGeom prst="rect">
            <a:avLst/>
          </a:prstGeom>
          <a:solidFill>
            <a:srgbClr val="94D2B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6583680" y="1581912"/>
            <a:ext cx="137160" cy="54864"/>
          </a:xfrm>
          <a:prstGeom prst="rect">
            <a:avLst/>
          </a:prstGeom>
          <a:solidFill>
            <a:srgbClr val="94D2B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D2B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94D2BD"/>
                </a:solidFill>
                <a:latin typeface="Calibri"/>
                <a:ea typeface="Calibri"/>
                <a:cs typeface="Calibri"/>
                <a:sym typeface="Calibri"/>
              </a:rPr>
              <a:t>Output: TPO Adjudication Verdict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365760" y="3090672"/>
            <a:ext cx="2651760" cy="1645920"/>
          </a:xfrm>
          <a:prstGeom prst="roundRect">
            <a:avLst>
              <a:gd fmla="val 6667" name="adj"/>
            </a:avLst>
          </a:prstGeom>
          <a:solidFill>
            <a:srgbClr val="2A9D8F">
              <a:alpha val="8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365760" y="320040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Approved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3657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evidence supports billed procedure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3291840" y="3090672"/>
            <a:ext cx="2651760" cy="1645920"/>
          </a:xfrm>
          <a:prstGeom prst="roundRect">
            <a:avLst>
              <a:gd fmla="val 6667" name="adj"/>
            </a:avLst>
          </a:prstGeom>
          <a:solidFill>
            <a:srgbClr val="E76F51">
              <a:alpha val="8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⚑  Audit Denial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32918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Anomaly flagged; claim escalated for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6217920" y="3090672"/>
            <a:ext cx="2651760" cy="1645920"/>
          </a:xfrm>
          <a:prstGeom prst="roundRect">
            <a:avLst>
              <a:gd fmla="val 6667" name="adj"/>
            </a:avLst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⚙  Provider Review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62179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Insufficient documentation; pend for clarification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Hybrid Anomaly Detection Engine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365760" y="914400"/>
            <a:ext cx="3931920" cy="3886200"/>
          </a:xfrm>
          <a:prstGeom prst="rect">
            <a:avLst/>
          </a:prstGeom>
          <a:solidFill>
            <a:srgbClr val="EEF2F7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502920" y="1024128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Layer 1 — Clinical Threshold Rules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9" name="Google Shape;139;p8"/>
          <p:cNvGraphicFramePr/>
          <p:nvPr/>
        </p:nvGraphicFramePr>
        <p:xfrm>
          <a:off x="502920" y="14630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{EBD5B22E-A7D2-4EF6-BE32-07DA07221662}</a:tableStyleId>
              </a:tblPr>
              <a:tblGrid>
                <a:gridCol w="1005850"/>
                <a:gridCol w="1371600"/>
                <a:gridCol w="12801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Vital Sign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Flag Condition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Clinical Label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939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SpO₂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95%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Hypoxia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Temperature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38°C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Pyrexia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Heart Rate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50 or &gt; 110 bpm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Brady/Tachycardia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Systolic BP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90 or &gt; 140 mmHg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Hypo/Hypertension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Resp. Rate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12 or &gt; 20 /min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A1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Bradypnea/Tachypnea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" name="Google Shape;140;p8"/>
          <p:cNvSpPr/>
          <p:nvPr/>
        </p:nvSpPr>
        <p:spPr>
          <a:xfrm>
            <a:off x="4480560" y="914400"/>
            <a:ext cx="4297680" cy="3886200"/>
          </a:xfrm>
          <a:prstGeom prst="rect">
            <a:avLst/>
          </a:prstGeom>
          <a:solidFill>
            <a:srgbClr val="EEF2F7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4617720" y="1024128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Layer 2 — Statistical Z-Score Analysis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617720" y="1463040"/>
            <a:ext cx="40233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For each vital, the engine computes: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Z = (X − μ) / σ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X is the current reading, μ is the patient's historical mean, and σ is the standard deviation over their monitoring window.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Severity scoring: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|Z| &lt; 2.0  →  Normal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|Z| 2.0–3.0  →  Medium risk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|Z| &gt; 3.0  →  Critical, escalated to agents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365760" y="4617720"/>
            <a:ext cx="8412480" cy="384048"/>
          </a:xfrm>
          <a:prstGeom prst="roundRect">
            <a:avLst>
              <a:gd fmla="val 19048" name="adj"/>
            </a:avLst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365760" y="461772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Both layers combine into a unified AnomalyReport fed to the Agentic Reasoning Chain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F2F7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Agentic Chain-of-Thought Reasoning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365760" y="960120"/>
            <a:ext cx="3931920" cy="3474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"/>
          <p:cNvSpPr/>
          <p:nvPr/>
        </p:nvSpPr>
        <p:spPr>
          <a:xfrm>
            <a:off x="1645920" y="1078992"/>
            <a:ext cx="1371600" cy="1371600"/>
          </a:xfrm>
          <a:prstGeom prst="ellipse">
            <a:avLst/>
          </a:prstGeom>
          <a:solidFill>
            <a:srgbClr val="0A9396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3" name="Google Shape;15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28800" y="1234440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9"/>
          <p:cNvSpPr/>
          <p:nvPr/>
        </p:nvSpPr>
        <p:spPr>
          <a:xfrm>
            <a:off x="502920" y="25146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Agent 1 — Extractor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/>
          <p:nvPr/>
        </p:nvSpPr>
        <p:spPr>
          <a:xfrm>
            <a:off x="502920" y="2926080"/>
            <a:ext cx="3657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Input: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Raw telemetry row from dataset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Pydantic ClinicalSummary object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Model: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Fireworks AI  gpt-oss-20b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Task: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Structured extraction → validates vitals, flags, patient context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4343400" y="2606040"/>
            <a:ext cx="457200" cy="54864"/>
          </a:xfrm>
          <a:prstGeom prst="rect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"/>
          <p:cNvSpPr/>
          <p:nvPr/>
        </p:nvSpPr>
        <p:spPr>
          <a:xfrm>
            <a:off x="4297680" y="24688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9"/>
          <p:cNvSpPr/>
          <p:nvPr/>
        </p:nvSpPr>
        <p:spPr>
          <a:xfrm>
            <a:off x="4846320" y="960120"/>
            <a:ext cx="3931920" cy="3474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"/>
          <p:cNvSpPr/>
          <p:nvPr/>
        </p:nvSpPr>
        <p:spPr>
          <a:xfrm>
            <a:off x="6126480" y="1078992"/>
            <a:ext cx="1371600" cy="1371600"/>
          </a:xfrm>
          <a:prstGeom prst="ellipse">
            <a:avLst/>
          </a:prstGeom>
          <a:solidFill>
            <a:srgbClr val="005F73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0" y="1234440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9"/>
          <p:cNvSpPr/>
          <p:nvPr/>
        </p:nvSpPr>
        <p:spPr>
          <a:xfrm>
            <a:off x="4983480" y="25146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F73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5F73"/>
                </a:solidFill>
                <a:latin typeface="Calibri"/>
                <a:ea typeface="Calibri"/>
                <a:cs typeface="Calibri"/>
                <a:sym typeface="Calibri"/>
              </a:rPr>
              <a:t>Agent 2 — Reasoner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4983480" y="2926080"/>
            <a:ext cx="3657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Input: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ClinicalSummary + AnomalyReport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TPO Recommendation + Verdict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Method: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Chain-of-Thought step-by-step audit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Verdicts:</a:t>
            </a: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 Approved · Audit Denial · Provider Review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Opportunities &amp; Threats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320040" y="960120"/>
            <a:ext cx="4023360" cy="3794760"/>
          </a:xfrm>
          <a:prstGeom prst="rect">
            <a:avLst/>
          </a:prstGeom>
          <a:solidFill>
            <a:srgbClr val="F0FDF4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0" name="Google Shape;1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515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0"/>
          <p:cNvSpPr/>
          <p:nvPr/>
        </p:nvSpPr>
        <p:spPr>
          <a:xfrm>
            <a:off x="960120" y="1051560"/>
            <a:ext cx="3246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9D8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2A9D8F"/>
                </a:solidFill>
                <a:latin typeface="Calibri"/>
                <a:ea typeface="Calibri"/>
                <a:cs typeface="Calibri"/>
                <a:sym typeface="Calibri"/>
              </a:rPr>
              <a:t>Opportunities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/>
          <p:nvPr/>
        </p:nvSpPr>
        <p:spPr>
          <a:xfrm>
            <a:off x="502920" y="16002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9D8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A9D8F"/>
                </a:solidFill>
                <a:latin typeface="Calibri"/>
                <a:ea typeface="Calibri"/>
                <a:cs typeface="Calibri"/>
                <a:sym typeface="Calibri"/>
              </a:rPr>
              <a:t>Enhanced Audit Precision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502920" y="1856232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ML detects complex billing anomalies — distributed upcoding across clinics — invisible to SQL rules.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0"/>
          <p:cNvSpPr/>
          <p:nvPr/>
        </p:nvSpPr>
        <p:spPr>
          <a:xfrm>
            <a:off x="502920" y="2606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9D8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A9D8F"/>
                </a:solidFill>
                <a:latin typeface="Calibri"/>
                <a:ea typeface="Calibri"/>
                <a:cs typeface="Calibri"/>
                <a:sym typeface="Calibri"/>
              </a:rPr>
              <a:t>Proactive Operations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502920" y="2862072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Predictive inference anticipates claim volume surges and fraud vectors before they impact operations.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0"/>
          <p:cNvSpPr/>
          <p:nvPr/>
        </p:nvSpPr>
        <p:spPr>
          <a:xfrm>
            <a:off x="502920" y="36118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9D8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A9D8F"/>
                </a:solidFill>
                <a:latin typeface="Calibri"/>
                <a:ea typeface="Calibri"/>
                <a:cs typeface="Calibri"/>
                <a:sym typeface="Calibri"/>
              </a:rPr>
              <a:t>Admin Cost Reduction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502920" y="3867912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Automated prior-auth and claims review shifts clinician time back to patient care.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4617720" y="960120"/>
            <a:ext cx="4114800" cy="3794760"/>
          </a:xfrm>
          <a:prstGeom prst="rect">
            <a:avLst/>
          </a:prstGeom>
          <a:solidFill>
            <a:srgbClr val="FFF5F5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9" name="Google Shape;17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10515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0"/>
          <p:cNvSpPr/>
          <p:nvPr/>
        </p:nvSpPr>
        <p:spPr>
          <a:xfrm>
            <a:off x="5257800" y="1051560"/>
            <a:ext cx="3337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E76F51"/>
                </a:solidFill>
                <a:latin typeface="Calibri"/>
                <a:ea typeface="Calibri"/>
                <a:cs typeface="Calibri"/>
                <a:sym typeface="Calibri"/>
              </a:rPr>
              <a:t>Threats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4754880" y="160020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76F51"/>
                </a:solidFill>
                <a:latin typeface="Calibri"/>
                <a:ea typeface="Calibri"/>
                <a:cs typeface="Calibri"/>
                <a:sym typeface="Calibri"/>
              </a:rPr>
              <a:t>AI Hallucination Risk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4754880" y="185623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Fabricated guideline citations can cause improper denials or approvals — introducing clinical and legal liability.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4754880" y="26060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76F51"/>
                </a:solidFill>
                <a:latin typeface="Calibri"/>
                <a:ea typeface="Calibri"/>
                <a:cs typeface="Calibri"/>
                <a:sym typeface="Calibri"/>
              </a:rPr>
              <a:t>Algorithmic Bias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4754880" y="286207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Models trained on historical data may disadvantage specific provider types or patient demographics.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4754880" y="361188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76F51"/>
                </a:solidFill>
                <a:latin typeface="Calibri"/>
                <a:ea typeface="Calibri"/>
                <a:cs typeface="Calibri"/>
                <a:sym typeface="Calibri"/>
              </a:rPr>
              <a:t>Adversarial Fraud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4754880" y="386791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Bad actors use AI to generate synthetic charts designed to evade anomaly detection boundaries.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F2F7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Strategic Recommendations for Cotiviti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/>
          <p:nvPr/>
        </p:nvSpPr>
        <p:spPr>
          <a:xfrm>
            <a:off x="320040" y="960120"/>
            <a:ext cx="27432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1"/>
          <p:cNvSpPr/>
          <p:nvPr/>
        </p:nvSpPr>
        <p:spPr>
          <a:xfrm>
            <a:off x="320040" y="960120"/>
            <a:ext cx="2743200" cy="868680"/>
          </a:xfrm>
          <a:prstGeom prst="roundRect">
            <a:avLst>
              <a:gd fmla="val 10526" name="adj"/>
            </a:avLst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"/>
          <p:cNvSpPr/>
          <p:nvPr/>
        </p:nvSpPr>
        <p:spPr>
          <a:xfrm>
            <a:off x="320040" y="1005840"/>
            <a:ext cx="640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6" name="Google Shape;19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07899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1"/>
          <p:cNvSpPr/>
          <p:nvPr/>
        </p:nvSpPr>
        <p:spPr>
          <a:xfrm>
            <a:off x="1463040" y="1005840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Scale CareVerify AI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Audit Pipeline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429768" y="1920240"/>
            <a:ext cx="251460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Productionize the CoT agent pipeline, integrate with live claims streams and EHR repositories. Each denial becomes auditable, traceable, and regulatorily defensible.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3264408" y="960120"/>
            <a:ext cx="27432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"/>
          <p:cNvSpPr/>
          <p:nvPr/>
        </p:nvSpPr>
        <p:spPr>
          <a:xfrm>
            <a:off x="3264408" y="960120"/>
            <a:ext cx="2743200" cy="868680"/>
          </a:xfrm>
          <a:prstGeom prst="roundRect">
            <a:avLst>
              <a:gd fmla="val 10526" name="adj"/>
            </a:avLst>
          </a:prstGeom>
          <a:solidFill>
            <a:srgbClr val="005F7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3264408" y="1005840"/>
            <a:ext cx="640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" name="Google Shape;202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58768" y="107899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1"/>
          <p:cNvSpPr/>
          <p:nvPr/>
        </p:nvSpPr>
        <p:spPr>
          <a:xfrm>
            <a:off x="4407408" y="1005840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Hybrid Anomaly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Clustering Engine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3374136" y="1920240"/>
            <a:ext cx="251460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Combine K-Means provider clustering with Isolation Forest claim scoring on multi-dimensional vectors (CPT combos, claim size, diagnostic frequency) to uncover novel fraud without labeled data.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6208776" y="960120"/>
            <a:ext cx="27432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6208776" y="960120"/>
            <a:ext cx="2743200" cy="868680"/>
          </a:xfrm>
          <a:prstGeom prst="roundRect">
            <a:avLst>
              <a:gd fmla="val 10526" name="adj"/>
            </a:avLst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1"/>
          <p:cNvSpPr/>
          <p:nvPr/>
        </p:nvSpPr>
        <p:spPr>
          <a:xfrm>
            <a:off x="6208776" y="1005840"/>
            <a:ext cx="640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8" name="Google Shape;208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03136" y="107899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1"/>
          <p:cNvSpPr/>
          <p:nvPr/>
        </p:nvSpPr>
        <p:spPr>
          <a:xfrm>
            <a:off x="7351776" y="1005840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Human-in-the-Loop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Explainability Interface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318504" y="1920240"/>
            <a:ext cx="251460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Deploy a HITL co-pilot where certified coders review AI reasoning chains. Mitigates hallucination risk, satisfies regulatory compliance, and feeds corrections back to improve model performance.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3E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2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05F73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2"/>
          <p:cNvSpPr/>
          <p:nvPr/>
        </p:nvSpPr>
        <p:spPr>
          <a:xfrm>
            <a:off x="-457200" y="3474720"/>
            <a:ext cx="2286000" cy="2286000"/>
          </a:xfrm>
          <a:prstGeom prst="ellipse">
            <a:avLst/>
          </a:prstGeom>
          <a:solidFill>
            <a:srgbClr val="0A9396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2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Takeaways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2"/>
          <p:cNvSpPr/>
          <p:nvPr/>
        </p:nvSpPr>
        <p:spPr>
          <a:xfrm>
            <a:off x="548640" y="1097280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2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1188720" y="10515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D2BD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94D2BD"/>
                </a:solidFill>
                <a:latin typeface="Calibri"/>
                <a:ea typeface="Calibri"/>
                <a:cs typeface="Calibri"/>
                <a:sym typeface="Calibri"/>
              </a:rPr>
              <a:t>Clinical AI is no longer future-state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1188720" y="137160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Agentic CoT reasoning and anomaly detection are production-ready today.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2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1188720" y="22402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D2BD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94D2BD"/>
                </a:solidFill>
                <a:latin typeface="Calibri"/>
                <a:ea typeface="Calibri"/>
                <a:cs typeface="Calibri"/>
                <a:sym typeface="Calibri"/>
              </a:rPr>
              <a:t>CareVerify AI proves the concept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1188720" y="25603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A two-agent pipeline combining hybrid anomaly detection with structured LLM reasoning delivers defensible TPO verdicts.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2"/>
          <p:cNvSpPr/>
          <p:nvPr/>
        </p:nvSpPr>
        <p:spPr>
          <a:xfrm>
            <a:off x="548640" y="34747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1188720" y="34290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D2BD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94D2BD"/>
                </a:solidFill>
                <a:latin typeface="Calibri"/>
                <a:ea typeface="Calibri"/>
                <a:cs typeface="Calibri"/>
                <a:sym typeface="Calibri"/>
              </a:rPr>
              <a:t>Cotiviti's strategic play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1188720" y="374904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Invest in agentic audit pipelines, hybrid detection engines, and HITL explainability — before competitors do.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457200" y="4434840"/>
            <a:ext cx="8229600" cy="27432"/>
          </a:xfrm>
          <a:prstGeom prst="rect">
            <a:avLst/>
          </a:prstGeom>
          <a:solidFill>
            <a:srgbClr val="0A93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2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Abhishek Darji  ·  San Jose State University  ·  Cotiviti Intern Assessment  ·  June 2026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